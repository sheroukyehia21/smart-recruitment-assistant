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image" Target="../media/image-2-2.png"/><Relationship Id="rId13" Type="http://schemas.openxmlformats.org/officeDocument/2006/relationships/image" Target="../media/image-6-13.jpeg"/><Relationship Id="rId14" Type="http://schemas.openxmlformats.org/officeDocument/2006/relationships/image" Target="../media/image-6-14.jpe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641"/>
            <a:ext cx="10868745" cy="49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Recruitment Assistant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010741"/>
            <a:ext cx="10868745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Screening System</a:t>
            </a:r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Benha University Faculty of Computers &amp; Artificial Intelligence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3528" y="1460302"/>
            <a:ext cx="5467412" cy="2907903"/>
          </a:xfrm>
          <a:prstGeom prst="roundRect">
            <a:avLst>
              <a:gd name="adj" fmla="val 371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3344" y="1596132"/>
            <a:ext cx="5167779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Instructor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3344" y="1977827"/>
            <a:ext cx="5777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Abdelrahman Yasser Hussein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3344" y="2396629"/>
            <a:ext cx="5167779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3344" y="2605881"/>
            <a:ext cx="5167779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3344" y="2987576"/>
            <a:ext cx="5167779" cy="1333103"/>
          </a:xfrm>
          <a:prstGeom prst="rect">
            <a:avLst/>
          </a:prstGeom>
          <a:noFill/>
          <a:ln/>
        </p:spPr>
        <p:txBody>
          <a:bodyPr wrap="square" lIns="0" tIns="59954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Shorouk Yehia Ismail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 Tarek Abdelhamed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Shahd Amr Salah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Malak Fayez Kamal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Hager Mohamed Farag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5053" y="1596132"/>
            <a:ext cx="5251517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About This Project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85053" y="1977827"/>
            <a:ext cx="525151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presents an end-to-end machine learning system designed to assist HR recruiters in identifying candidates who are likely open to a job change. Built using the HR Analytics Job Change dataset, the system leverages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HistGradientBoosting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deliver probability-based predictions that support — not replace — human decision-making.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5053" y="3273623"/>
            <a:ext cx="5251517" cy="776486"/>
          </a:xfrm>
          <a:prstGeom prst="roundRect">
            <a:avLst>
              <a:gd name="adj" fmla="val 8107"/>
            </a:avLst>
          </a:prstGeom>
          <a:solidFill>
            <a:srgbClr val="CCEE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869" y="3480792"/>
            <a:ext cx="187320" cy="1498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72006" y="3433266"/>
            <a:ext cx="4614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Training Program — Benha University | Decision-Support Tool, Not Automated Decision-Maker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4521002"/>
            <a:ext cx="5366409" cy="868263"/>
          </a:xfrm>
          <a:prstGeom prst="roundRect">
            <a:avLst>
              <a:gd name="adj" fmla="val 7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641" y="4677172"/>
            <a:ext cx="5054077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79.44%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7641" y="5004495"/>
            <a:ext cx="5054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63711" y="4521002"/>
            <a:ext cx="5366509" cy="868263"/>
          </a:xfrm>
          <a:prstGeom prst="roundRect">
            <a:avLst>
              <a:gd name="adj" fmla="val 7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19878" y="4677172"/>
            <a:ext cx="5054176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65.01%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19878" y="5004495"/>
            <a:ext cx="50541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1475" y="5525095"/>
            <a:ext cx="5366409" cy="868263"/>
          </a:xfrm>
          <a:prstGeom prst="roundRect">
            <a:avLst>
              <a:gd name="adj" fmla="val 7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7641" y="5681266"/>
            <a:ext cx="5054077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82.05%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7641" y="6008588"/>
            <a:ext cx="5054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63711" y="5525095"/>
            <a:ext cx="5366509" cy="868263"/>
          </a:xfrm>
          <a:prstGeom prst="roundRect">
            <a:avLst>
              <a:gd name="adj" fmla="val 7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9878" y="5681266"/>
            <a:ext cx="5054176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19,158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19878" y="6008588"/>
            <a:ext cx="50541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Records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&amp; Our Solution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601945" y="788194"/>
            <a:ext cx="5452628" cy="1021159"/>
          </a:xfrm>
          <a:prstGeom prst="roundRect">
            <a:avLst>
              <a:gd name="adj" fmla="val 583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4592" y="829469"/>
            <a:ext cx="5287334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4592" y="1006376"/>
            <a:ext cx="528733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face a significant bottleneck when screening large volumes of candidate profiles. Identifying which candidates are genuinely open to a job change is time-consuming, inconsistent, and lacks data-driven prioritization.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4592" y="1241822"/>
            <a:ext cx="5287334" cy="326132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review large numbers of candidate profiles manually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candidates open to job change is time-consuming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screening lacks data-driven prioritization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203001" y="829469"/>
            <a:ext cx="5333569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03001" y="1006376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machine-learning screening assistant that analyzes candidate information and surfaces the most promising profiles for recruiter review.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203001" y="1241822"/>
            <a:ext cx="5333569" cy="553145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candidate information across multiple dimensions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likelihood of job-change interest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probability-based confidence scores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recruiters prioritize profiles efficiently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Supports — rather than replaces — human decisions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61475" y="1871365"/>
            <a:ext cx="1086874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Flow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2069009"/>
            <a:ext cx="10779153" cy="46482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1583" y="5828174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Recruiter Review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31583" y="4752168"/>
            <a:ext cx="285959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+ Confidence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31583" y="3687031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31583" y="2611024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 Profile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1475" y="6763742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transforms raw candidate data into actionable, probability-ranked outputs that empower recruiters to make faster, more informed decisions — while keeping humans firmly in control of final hiring choices.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61475" y="6909296"/>
            <a:ext cx="10868745" cy="218877"/>
          </a:xfrm>
          <a:prstGeom prst="roundRect">
            <a:avLst>
              <a:gd name="adj" fmla="val 15868"/>
            </a:avLst>
          </a:prstGeom>
          <a:solidFill>
            <a:srgbClr val="CCEE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6971209"/>
            <a:ext cx="103284" cy="8264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0053" y="6971209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[SCREENSHOT 1]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 workflow / candidate input interface — to be embedded here.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415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9037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HR Analytics Job Change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569045"/>
            <a:ext cx="25793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19,158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22884"/>
            <a:ext cx="2579325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Records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61943" y="1569045"/>
            <a:ext cx="25794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2,129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3361943" y="2122884"/>
            <a:ext cx="2579425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439591"/>
            <a:ext cx="5889478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 target: whether a candidate is looking for a job change or not.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72240" y="3550444"/>
            <a:ext cx="1557497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75.07%</a:t>
            </a:r>
            <a:endParaRPr lang="en-US" sz="24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390" y="2759075"/>
            <a:ext cx="1899396" cy="18994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1475" y="4787106"/>
            <a:ext cx="2579325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 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5091708"/>
            <a:ext cx="2579325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looking for a change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72808" y="3550444"/>
            <a:ext cx="1557497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24.93%</a:t>
            </a:r>
            <a:endParaRPr lang="en-US" sz="24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57" y="2759075"/>
            <a:ext cx="1899396" cy="18994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1943" y="4787106"/>
            <a:ext cx="2579425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 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61943" y="5091708"/>
            <a:ext cx="2579425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for a change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61475" y="5379541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is 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imbalanced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directly influenced model selection and evaluation strategy.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56677" y="1189037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256677" y="1505744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56677" y="1708249"/>
            <a:ext cx="5279893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7"/>
          <p:cNvSpPr/>
          <p:nvPr/>
        </p:nvSpPr>
        <p:spPr>
          <a:xfrm>
            <a:off x="6256677" y="1796951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 Handling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256677" y="2101552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Imputation strategies applied per feature type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256677" y="2472234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56677" y="2674739"/>
            <a:ext cx="5279893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5" name="Text 21"/>
          <p:cNvSpPr/>
          <p:nvPr/>
        </p:nvSpPr>
        <p:spPr>
          <a:xfrm>
            <a:off x="6256677" y="2763441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Experience Conversion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256677" y="3068042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Text-based experience fields converted to numeric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256677" y="3438723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56677" y="3641229"/>
            <a:ext cx="5279893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9" name="Text 25"/>
          <p:cNvSpPr/>
          <p:nvPr/>
        </p:nvSpPr>
        <p:spPr>
          <a:xfrm>
            <a:off x="6256677" y="3729930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Ordinal &amp; Frequency Encoding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256677" y="4034532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Ordinal encoding for ranked categories; city frequency encoding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256677" y="4405213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56677" y="4607719"/>
            <a:ext cx="5279893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33" name="Text 29"/>
          <p:cNvSpPr/>
          <p:nvPr/>
        </p:nvSpPr>
        <p:spPr>
          <a:xfrm>
            <a:off x="6256677" y="4696420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One-Hot Encoding &amp; Scaling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256677" y="5001022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features one-hot encoded; standard scaling applied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256677" y="5383808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Practices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256677" y="5688409"/>
            <a:ext cx="5279893" cy="604242"/>
          </a:xfrm>
          <a:prstGeom prst="rect">
            <a:avLst/>
          </a:prstGeom>
          <a:noFill/>
          <a:ln/>
        </p:spPr>
        <p:txBody>
          <a:bodyPr wrap="square" lIns="0" tIns="50651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Training-only fitting prevents data leakage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80/20 train-test split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</a:t>
            </a:r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reproducibility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 Learning Models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038126"/>
            <a:ext cx="1086874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Four Models Compared Under Identical Conditions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54448"/>
            <a:ext cx="5373255" cy="1457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1495" y="1550194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22602" y="2021979"/>
            <a:ext cx="505100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602" y="2328366"/>
            <a:ext cx="505100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linear baseline. Class imbalance handled via 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866" y="1454448"/>
            <a:ext cx="5373355" cy="1457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6985" y="1550194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17993" y="2021979"/>
            <a:ext cx="505110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17993" y="2328366"/>
            <a:ext cx="505110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Tree-based ensemble with bagging. Class imbalance handled via 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34506"/>
            <a:ext cx="5373255" cy="1457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1495" y="313025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22602" y="3602038"/>
            <a:ext cx="505100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ExtraTrees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2602" y="3908425"/>
            <a:ext cx="505100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Randomized tree ensemble with extra randomization. Class imbalance handled via 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6866" y="3034506"/>
            <a:ext cx="5373355" cy="1457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6985" y="313025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317993" y="3602038"/>
            <a:ext cx="505110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HistGradientBoosting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17993" y="3908425"/>
            <a:ext cx="505110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Histogram-based gradient boosting. Class imbalance handled via balanced sample weights.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← Selected Model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59183" y="4629745"/>
            <a:ext cx="5465626" cy="1705273"/>
          </a:xfrm>
          <a:prstGeom prst="roundRect">
            <a:avLst>
              <a:gd name="adj" fmla="val 600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701261" y="4751884"/>
            <a:ext cx="518147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Handling Class Imbalance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01261" y="5107186"/>
            <a:ext cx="5181470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only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24.93%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candidates are labeled as job-seekers, all four models were configured to account for class imbalance — either through 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2B479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balanced sample weights — ensuring the minority class received appropriate attention during training.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75528" y="4751884"/>
            <a:ext cx="526104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Fair Comparison Protocol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275528" y="5107186"/>
            <a:ext cx="5261042" cy="1185168"/>
          </a:xfrm>
          <a:prstGeom prst="rect">
            <a:avLst/>
          </a:prstGeom>
          <a:noFill/>
          <a:ln/>
        </p:spPr>
        <p:txBody>
          <a:bodyPr wrap="square" lIns="0" tIns="56853" rIns="0" bIns="0" rtlCol="0" anchor="t">
            <a:normAutofit/>
          </a:bodyPr>
          <a:lstStyle/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preprocessing pipeline applied to all models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stratified train/test split used across all experiments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evaluation metrics computed for every model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alone was 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as the selection criterion due to class imbalance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900"/>
            <a:ext cx="10868745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Performance Comparison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057573"/>
            <a:ext cx="10868745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Which Model Performed Best?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1553270"/>
            <a:ext cx="10868745" cy="2293838"/>
          </a:xfrm>
          <a:prstGeom prst="roundRect">
            <a:avLst>
              <a:gd name="adj" fmla="val 293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013942"/>
            <a:ext cx="10868745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471440"/>
            <a:ext cx="10868745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928938"/>
            <a:ext cx="10868745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386435"/>
            <a:ext cx="10868745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8122" y="1559620"/>
            <a:ext cx="3039689" cy="454323"/>
          </a:xfrm>
          <a:custGeom>
            <a:avLst/>
            <a:gdLst/>
            <a:ahLst/>
            <a:cxnLst/>
            <a:rect l="l" t="t" r="r" b="b"/>
            <a:pathLst>
              <a:path w="3039689" h="454323">
                <a:moveTo>
                  <a:pt x="56078" y="0"/>
                </a:moveTo>
                <a:lnTo>
                  <a:pt x="3039689" y="0"/>
                </a:lnTo>
                <a:lnTo>
                  <a:pt x="3039689" y="454323"/>
                </a:lnTo>
                <a:lnTo>
                  <a:pt x="0" y="454323"/>
                </a:lnTo>
                <a:lnTo>
                  <a:pt x="0" y="56079"/>
                </a:lnTo>
                <a:arcTo hR="56079" wR="56078" stAng="10800000" swAng="5400000"/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828257" y="1659037"/>
            <a:ext cx="332900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7811" y="1559620"/>
            <a:ext cx="1519795" cy="45432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867946" y="165903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27606" y="1559620"/>
            <a:ext cx="1519795" cy="45432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387741" y="165903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47401" y="1559620"/>
            <a:ext cx="1519795" cy="45432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907536" y="165903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67196" y="1559620"/>
            <a:ext cx="1519795" cy="45432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8427331" y="165903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ROC-AUC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86990" y="1559620"/>
            <a:ext cx="1736880" cy="454323"/>
          </a:xfrm>
          <a:custGeom>
            <a:avLst/>
            <a:gdLst/>
            <a:ahLst/>
            <a:cxnLst/>
            <a:rect l="l" t="t" r="r" b="b"/>
            <a:pathLst>
              <a:path w="1736880" h="454323">
                <a:moveTo>
                  <a:pt x="0" y="0"/>
                </a:moveTo>
                <a:lnTo>
                  <a:pt x="1680802" y="0"/>
                </a:lnTo>
                <a:arcTo hR="56079" wR="56078" stAng="16200000" swAng="5400000"/>
                <a:lnTo>
                  <a:pt x="1736880" y="454323"/>
                </a:lnTo>
                <a:lnTo>
                  <a:pt x="0" y="454323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9947125" y="1659037"/>
            <a:ext cx="202619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Selection Score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8257" y="2116534"/>
            <a:ext cx="332900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67946" y="2116534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75.08%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87741" y="2116534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60.97%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07536" y="2116534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78.12%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27331" y="2116534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80.28%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47125" y="2116534"/>
            <a:ext cx="202619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73.86%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257" y="2574032"/>
            <a:ext cx="332900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67946" y="2574032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78.16%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87741" y="2574032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51.59%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07536" y="2574032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46.70%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27331" y="2574032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80.03%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47125" y="2574032"/>
            <a:ext cx="202619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61.49%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8257" y="3031530"/>
            <a:ext cx="332900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ExtraTrees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67946" y="3031530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78.55%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87741" y="3031530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63.27%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07536" y="3031530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74.14%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27331" y="3031530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80.23%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947125" y="3031530"/>
            <a:ext cx="202619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73.68%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8257" y="3489027"/>
            <a:ext cx="332900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HistGradientBoosting ✓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867946" y="348902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79.44%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87741" y="348902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65.01%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07536" y="348902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76.65%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427331" y="3489027"/>
            <a:ext cx="1809109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82.05%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947125" y="3489027"/>
            <a:ext cx="202619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75.55%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6086" y="4021634"/>
            <a:ext cx="5469694" cy="2366367"/>
          </a:xfrm>
          <a:prstGeom prst="roundRect">
            <a:avLst>
              <a:gd name="adj" fmla="val 4875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6221" y="4176812"/>
            <a:ext cx="5149424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Selection Score Formula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06221" y="4594920"/>
            <a:ext cx="5149424" cy="165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10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Selection Score</a:t>
            </a:r>
            <a:pPr algn="l" indent="0" marL="0">
              <a:lnSpc>
                <a:spcPct val="131000"/>
              </a:lnSpc>
              <a:spcAft>
                <a:spcPts val="10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mean of Recall + F1 + Balanced Accuracy + ROC-AUC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alone was not used as the selection criterion because the target variable is imbalanced. The composite Selection Score rewards models that perform well across all dimensions of classification quality.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297653" y="4176812"/>
            <a:ext cx="5238917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HistGradientBoosting Wins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6297653" y="4594920"/>
            <a:ext cx="5238917" cy="1172071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accuracy at 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79.44%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F1 Score at 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65.01%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balances precision and recall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ROC-AUC at 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82.05%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strongest discriminative power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composite Selection Score at 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75.55%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Final System: Streamlit Dashboard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45" y="808831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283934"/>
            <a:ext cx="2246753" cy="320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 Profile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99678" y="3088973"/>
            <a:ext cx="2246753" cy="641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Pipeline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28174" y="3100012"/>
            <a:ext cx="2246753" cy="641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HistGradientBoosting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1475" y="6195219"/>
            <a:ext cx="5333569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Features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377285"/>
            <a:ext cx="2646098" cy="466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7620" y="6472634"/>
            <a:ext cx="240460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 Prediction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07620" y="6649541"/>
            <a:ext cx="24046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candidate screening with probability output</a:t>
            </a:r>
            <a:endParaRPr lang="en-US" sz="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8847" y="6377285"/>
            <a:ext cx="2646197" cy="466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94992" y="6472634"/>
            <a:ext cx="240470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Recruitment Dashboard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3494992" y="6649541"/>
            <a:ext cx="24047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overview and analytics across candidate pool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6885285"/>
            <a:ext cx="2646098" cy="466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7620" y="6980634"/>
            <a:ext cx="240460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Candidates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807620" y="7157541"/>
            <a:ext cx="24046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list sorted by job-change likelihood score</a:t>
            </a:r>
            <a:endParaRPr lang="en-US" sz="6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8847" y="6885285"/>
            <a:ext cx="2646197" cy="466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94992" y="6980634"/>
            <a:ext cx="240470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Insights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3494992" y="7157541"/>
            <a:ext cx="24047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and explainability visualizations</a:t>
            </a:r>
            <a:endParaRPr lang="en-US" sz="6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7393285"/>
            <a:ext cx="2646098" cy="4667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7620" y="7488634"/>
            <a:ext cx="2404605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About Project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807620" y="7665541"/>
            <a:ext cx="24046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documentation and methodology overview</a:t>
            </a:r>
            <a:endParaRPr lang="en-US" sz="650" dirty="0"/>
          </a:p>
        </p:txBody>
      </p:sp>
      <p:sp>
        <p:nvSpPr>
          <p:cNvPr id="23" name="Shape 15"/>
          <p:cNvSpPr/>
          <p:nvPr/>
        </p:nvSpPr>
        <p:spPr>
          <a:xfrm>
            <a:off x="6143471" y="6153944"/>
            <a:ext cx="5452628" cy="1752501"/>
          </a:xfrm>
          <a:prstGeom prst="roundRect">
            <a:avLst>
              <a:gd name="adj" fmla="val 3397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6226118" y="6195219"/>
            <a:ext cx="5287334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Production Consistency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6226118" y="6372126"/>
            <a:ext cx="5287334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preprocessing artifacts and the final model are 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saved and reused during inference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ensuring that the exact same transformations applied during training are applied at prediction time.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eliminates training/inference skew — a common source of silent model degradation in production ML systems.</a:t>
            </a:r>
            <a:endParaRPr lang="en-US" sz="650" dirty="0"/>
          </a:p>
        </p:txBody>
      </p:sp>
      <p:sp>
        <p:nvSpPr>
          <p:cNvPr id="26" name="Shape 18"/>
          <p:cNvSpPr/>
          <p:nvPr/>
        </p:nvSpPr>
        <p:spPr>
          <a:xfrm>
            <a:off x="6226118" y="6773763"/>
            <a:ext cx="5287334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Text 19"/>
          <p:cNvSpPr/>
          <p:nvPr/>
        </p:nvSpPr>
        <p:spPr>
          <a:xfrm>
            <a:off x="6226118" y="6853535"/>
            <a:ext cx="5287334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6226118" y="7030442"/>
            <a:ext cx="5287334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— interactive web dashboard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— model training &amp; preprocessing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HistGradientBoostingClassifier — core prediction engine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Serialized pipeline artifacts — inference consistency</a:t>
            </a:r>
            <a:endParaRPr lang="en-US" sz="650" dirty="0"/>
          </a:p>
        </p:txBody>
      </p:sp>
      <p:sp>
        <p:nvSpPr>
          <p:cNvPr id="29" name="Shape 21"/>
          <p:cNvSpPr/>
          <p:nvPr/>
        </p:nvSpPr>
        <p:spPr>
          <a:xfrm>
            <a:off x="661475" y="7952879"/>
            <a:ext cx="10868745" cy="3748980"/>
          </a:xfrm>
          <a:prstGeom prst="roundRect">
            <a:avLst>
              <a:gd name="adj" fmla="val 926"/>
            </a:avLst>
          </a:prstGeom>
          <a:solidFill>
            <a:srgbClr val="CCEE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122" y="8014791"/>
            <a:ext cx="103284" cy="82649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053" y="8019951"/>
            <a:ext cx="3225124" cy="1814116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053" y="9880501"/>
            <a:ext cx="3118764" cy="1754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96602"/>
            <a:ext cx="4938391" cy="277782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483471"/>
            <a:ext cx="4938391" cy="277782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860" y="596602"/>
            <a:ext cx="3336445" cy="18767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860" y="2582366"/>
            <a:ext cx="4938391" cy="2777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5441"/>
            <a:ext cx="1086874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Explainability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030585"/>
            <a:ext cx="1086874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Did the Model Make This Prediction?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59183" y="1446907"/>
            <a:ext cx="5465626" cy="2406749"/>
          </a:xfrm>
          <a:prstGeom prst="roundRect">
            <a:avLst>
              <a:gd name="adj" fmla="val 4252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261" y="1569045"/>
            <a:ext cx="518147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 Regression Insights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1261" y="1924348"/>
            <a:ext cx="518147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provides direct coefficient-based interpretability, making it a useful reference model for understanding feature directionality.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1261" y="2457053"/>
            <a:ext cx="5181470" cy="676970"/>
          </a:xfrm>
          <a:prstGeom prst="rect">
            <a:avLst/>
          </a:prstGeom>
          <a:noFill/>
          <a:ln/>
        </p:spPr>
        <p:txBody>
          <a:bodyPr wrap="square" lIns="0" tIns="56853" rIns="0" bIns="0" rtlCol="0" anchor="t">
            <a:normAutofit/>
          </a:bodyPr>
          <a:lstStyle/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coefficients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increase estimated class-1 likelihood (candidate is job-seeking)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coefficients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decrease estimated class-1 likelihood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1261" y="3243858"/>
            <a:ext cx="518147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Coefficients offer a transparent, linear view of how each feature pushes the prediction in either direction.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5528" y="1569045"/>
            <a:ext cx="526104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HistGradientBoosting Insights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75528" y="1924348"/>
            <a:ext cx="526104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gradient boosting models are non-linear and ensemble-based, standard coefficient analysis does not apply. Instead, the system uses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permutation importance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measure each feature's predictive contribution.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5528" y="2668488"/>
            <a:ext cx="5261042" cy="1142504"/>
          </a:xfrm>
          <a:prstGeom prst="rect">
            <a:avLst/>
          </a:prstGeom>
          <a:noFill/>
          <a:ln/>
        </p:spPr>
        <p:txBody>
          <a:bodyPr wrap="square" lIns="0" tIns="56853" rIns="0" bIns="0" rtlCol="0" anchor="t">
            <a:normAutofit/>
          </a:bodyPr>
          <a:lstStyle/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measured using 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permutation importance with ROC-AUC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contribution</a:t>
            </a:r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causation</a:t>
            </a:r>
            <a:endParaRPr lang="en-US" sz="1100" dirty="0"/>
          </a:p>
          <a:p>
            <a:pPr algn="l" marL="223520" indent="-223520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that, when shuffled, most reduce ROC-AUC are ranked as most important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475" y="4036814"/>
            <a:ext cx="1086874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Transparency in Screening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453136"/>
            <a:ext cx="3541425" cy="1237555"/>
          </a:xfrm>
          <a:prstGeom prst="roundRect">
            <a:avLst>
              <a:gd name="adj" fmla="val 48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902" y="4601567"/>
            <a:ext cx="324457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Recruiter Understanding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9902" y="4907955"/>
            <a:ext cx="324457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can see which candidate attributes drive each prediction, not just the final 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036" y="4453136"/>
            <a:ext cx="3541525" cy="1237555"/>
          </a:xfrm>
          <a:prstGeom prst="roundRect">
            <a:avLst>
              <a:gd name="adj" fmla="val 48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3463" y="4601567"/>
            <a:ext cx="324467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Informed Decisions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73463" y="4907955"/>
            <a:ext cx="324467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 supports informed, accountable decision-making rather than blind trust in model outputs.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88695" y="4453136"/>
            <a:ext cx="3541525" cy="1237555"/>
          </a:xfrm>
          <a:prstGeom prst="roundRect">
            <a:avLst>
              <a:gd name="adj" fmla="val 48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7123" y="4601567"/>
            <a:ext cx="324467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≠ Causal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37123" y="4907955"/>
            <a:ext cx="324467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reflects statistical association with the target — not a causal claim about candidate behavior.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475" y="5828010"/>
            <a:ext cx="10868745" cy="514449"/>
          </a:xfrm>
          <a:prstGeom prst="roundRect">
            <a:avLst>
              <a:gd name="adj" fmla="val 11604"/>
            </a:avLst>
          </a:prstGeom>
          <a:solidFill>
            <a:srgbClr val="CCEEF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53" y="6007398"/>
            <a:ext cx="177597" cy="14208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3227" y="5985669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[SCREENSHOT 6]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 importance / model insights visualization — to be embedded here.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386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Results, Limitations &amp; Responsible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306215"/>
            <a:ext cx="527364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Achieved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706265"/>
            <a:ext cx="2571190" cy="43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79.44%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2285802"/>
            <a:ext cx="257119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Accuracy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63928" y="1706265"/>
            <a:ext cx="2571190" cy="43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65.01%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63928" y="2285802"/>
            <a:ext cx="257119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F1 Score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777827"/>
            <a:ext cx="2571190" cy="43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82.05%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61475" y="3357364"/>
            <a:ext cx="257119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ROC-AUC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63928" y="2777827"/>
            <a:ext cx="2571190" cy="43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75.55%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63928" y="3357364"/>
            <a:ext cx="257119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Selection Score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68077" y="1201241"/>
            <a:ext cx="5463344" cy="2490291"/>
          </a:xfrm>
          <a:prstGeom prst="roundRect">
            <a:avLst>
              <a:gd name="adj" fmla="val 381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99836" y="1306215"/>
            <a:ext cx="519982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Responsible AI Commitment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99836" y="1627287"/>
            <a:ext cx="5199825" cy="852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system is a decision-support tool.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should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 candidates for review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automatically hire or reject candidates. Every prediction is a signal to inform human judgment, not a substitute for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9836" y="2630388"/>
            <a:ext cx="519982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99836" y="2800449"/>
            <a:ext cx="519982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remain the final decision-makers. The model surfaces candidates worth reviewing — the human evaluates them.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475" y="3848993"/>
            <a:ext cx="1086874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Limitations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475" y="4222552"/>
            <a:ext cx="2638458" cy="1148953"/>
          </a:xfrm>
          <a:prstGeom prst="roundRect">
            <a:avLst>
              <a:gd name="adj" fmla="val 48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284" y="4373364"/>
            <a:ext cx="233684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Cross-Validation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2284" y="4652466"/>
            <a:ext cx="233684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stratified holdout split only — results may vary across different data partitions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4904" y="4222552"/>
            <a:ext cx="2638458" cy="1148953"/>
          </a:xfrm>
          <a:prstGeom prst="roundRect">
            <a:avLst>
              <a:gd name="adj" fmla="val 48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5713" y="4373364"/>
            <a:ext cx="233684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Hyperparameter Tuning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55713" y="4652466"/>
            <a:ext cx="233684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or manually set parameters — systematic optimization not yet performed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8333" y="4222552"/>
            <a:ext cx="2638458" cy="1148953"/>
          </a:xfrm>
          <a:prstGeom prst="roundRect">
            <a:avLst>
              <a:gd name="adj" fmla="val 48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9142" y="4373364"/>
            <a:ext cx="233684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Probability Calibration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99142" y="4652466"/>
            <a:ext cx="233684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probabilities may not be well-calibrated for real-world use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91762" y="4222552"/>
            <a:ext cx="2638458" cy="1148953"/>
          </a:xfrm>
          <a:prstGeom prst="roundRect">
            <a:avLst>
              <a:gd name="adj" fmla="val 48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2571" y="4373364"/>
            <a:ext cx="233684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Static Dataset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42571" y="4652466"/>
            <a:ext cx="233684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only — model may not reflect current labor market dynamics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1475" y="5476478"/>
            <a:ext cx="5381887" cy="770136"/>
          </a:xfrm>
          <a:prstGeom prst="roundRect">
            <a:avLst>
              <a:gd name="adj" fmla="val 71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284" y="5627291"/>
            <a:ext cx="508027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Fairness Audit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12284" y="5906393"/>
            <a:ext cx="5080270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Subgroup performance and potential bias have not yet been formally evaluated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8333" y="5476478"/>
            <a:ext cx="5381887" cy="770136"/>
          </a:xfrm>
          <a:prstGeom prst="roundRect">
            <a:avLst>
              <a:gd name="adj" fmla="val 71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9142" y="5627291"/>
            <a:ext cx="508027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Public Deployment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99142" y="5906393"/>
            <a:ext cx="5080270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is not yet publicly deployed — security and reliability review required first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1785"/>
            <a:ext cx="10868745" cy="415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0295" y="1032570"/>
            <a:ext cx="5462252" cy="4746228"/>
          </a:xfrm>
          <a:prstGeom prst="roundRect">
            <a:avLst>
              <a:gd name="adj" fmla="val 192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6895" y="1129506"/>
            <a:ext cx="5209052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6895" y="1434108"/>
            <a:ext cx="5209052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complete, end-to-end ML workflow — from raw data to a deployed screening assistant: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6895" y="1900734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96895" y="2103239"/>
            <a:ext cx="5209052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696895" y="2191941"/>
            <a:ext cx="5209052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&amp;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6895" y="2496542"/>
            <a:ext cx="5209052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19,158 records, stratified split, leakage-free pipeline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6895" y="2867223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6895" y="3069729"/>
            <a:ext cx="5209052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696895" y="3158430"/>
            <a:ext cx="5209052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895" y="3463032"/>
            <a:ext cx="5209052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models evaluated on composite Selection 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6895" y="3833713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6895" y="4036219"/>
            <a:ext cx="5209052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6" name="Text 14"/>
          <p:cNvSpPr/>
          <p:nvPr/>
        </p:nvSpPr>
        <p:spPr>
          <a:xfrm>
            <a:off x="696895" y="4124920"/>
            <a:ext cx="5209052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Model Selected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6895" y="4429522"/>
            <a:ext cx="5209052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HistGradientBoosting — 79.44% Accuracy | 65.01% F1 | 82.05% ROC-AUC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6895" y="4800203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6895" y="5002709"/>
            <a:ext cx="5209052" cy="127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0" name="Text 18"/>
          <p:cNvSpPr/>
          <p:nvPr/>
        </p:nvSpPr>
        <p:spPr>
          <a:xfrm>
            <a:off x="696895" y="5091410"/>
            <a:ext cx="5209052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Explainability &amp; Application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6895" y="5396012"/>
            <a:ext cx="5209052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Permutation importance + Streamlit dashboard for recruiters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6677" y="1129506"/>
            <a:ext cx="527989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Improvements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4102" y="1450132"/>
            <a:ext cx="189900" cy="18990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68127" y="1446212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Hyperparameter Optimization &amp; Cross-Validation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68127" y="1750814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tuning with k-fold CV for more robust performance estimates</a:t>
            </a:r>
            <a:endParaRPr lang="en-US" sz="9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4102" y="2127399"/>
            <a:ext cx="189900" cy="18990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68127" y="2123480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Better Feature Engineering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68127" y="2428081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Domain-informed features to improve predictive signal</a:t>
            </a:r>
            <a:endParaRPr lang="en-US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4102" y="2804666"/>
            <a:ext cx="189900" cy="18990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68127" y="2800747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Probability Calibration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668127" y="3105348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Platt scaling or isotonic regression for reliable confidence scores</a:t>
            </a:r>
            <a:endParaRPr lang="en-US" sz="9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4102" y="3481933"/>
            <a:ext cx="189900" cy="18990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68127" y="3478014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Fairness &amp; Subgroup Analysis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668127" y="3782616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audit across demographic subgroups to detect and mitigate bias</a:t>
            </a:r>
            <a:endParaRPr lang="en-US" sz="9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4102" y="4159200"/>
            <a:ext cx="189900" cy="1899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668127" y="4155281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Stronger Explainability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668127" y="4459883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values for instance-level, model-agnostic explanations</a:t>
            </a:r>
            <a:endParaRPr lang="en-US" sz="9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04102" y="4836468"/>
            <a:ext cx="189900" cy="18990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68127" y="4832548"/>
            <a:ext cx="4868443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Public Deployment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668127" y="5137150"/>
            <a:ext cx="486844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security review and reliability validation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851375" y="6033195"/>
            <a:ext cx="10678845" cy="20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i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"AI-assisted screening, with humans still in the loop."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661475" y="5887839"/>
            <a:ext cx="12700" cy="498376"/>
          </a:xfrm>
          <a:prstGeom prst="roundRect">
            <a:avLst>
              <a:gd name="adj" fmla="val 49999"/>
            </a:avLst>
          </a:prstGeom>
          <a:solidFill>
            <a:srgbClr val="007EB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2026-08-22T19:28:43Z</dcterms:created>
  <dcterms:modified xsi:type="dcterms:W3CDTF">2026-08-22T19:28:43Z</dcterms:modified>
</cp:coreProperties>
</file>